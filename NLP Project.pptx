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aleway"/>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Lato-regular.fntdata"/><Relationship Id="rId23" Type="http://schemas.openxmlformats.org/officeDocument/2006/relationships/font" Target="fonts/Raleway-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f87997393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f87997393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f87997393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f87997393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f87997393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f87997393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5a3748932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5a3748932a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5a3748932a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5a3748932a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5a3748932a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5a3748932a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a3748932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a3748932a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a3748932a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5a3748932a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5a3748932a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5a3748932a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5a3748932a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5a3748932a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5a3748932a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5a3748932a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5a3748932a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5a3748932a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5a3748932a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5a3748932a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a3748932a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5a3748932a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82" name="Shape 82"/>
        <p:cNvGrpSpPr/>
        <p:nvPr/>
      </p:nvGrpSpPr>
      <p:grpSpPr>
        <a:xfrm>
          <a:off x="0" y="0"/>
          <a:ext cx="0" cy="0"/>
          <a:chOff x="0" y="0"/>
          <a:chExt cx="0" cy="0"/>
        </a:xfrm>
      </p:grpSpPr>
      <p:grpSp>
        <p:nvGrpSpPr>
          <p:cNvPr id="83" name="Google Shape;83;p13"/>
          <p:cNvGrpSpPr/>
          <p:nvPr/>
        </p:nvGrpSpPr>
        <p:grpSpPr>
          <a:xfrm>
            <a:off x="4406400" y="0"/>
            <a:ext cx="4737600" cy="5143065"/>
            <a:chOff x="4406400" y="0"/>
            <a:chExt cx="4737600" cy="5143065"/>
          </a:xfrm>
        </p:grpSpPr>
        <p:sp>
          <p:nvSpPr>
            <p:cNvPr id="84" name="Google Shape;84;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 name="Google Shape;10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03" name="Google Shape;103;p1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3">
  <p:cSld name="TITLE_AND_BODY_1">
    <p:spTree>
      <p:nvGrpSpPr>
        <p:cNvPr id="104" name="Shape 104"/>
        <p:cNvGrpSpPr/>
        <p:nvPr/>
      </p:nvGrpSpPr>
      <p:grpSpPr>
        <a:xfrm>
          <a:off x="0" y="0"/>
          <a:ext cx="0" cy="0"/>
          <a:chOff x="0" y="0"/>
          <a:chExt cx="0" cy="0"/>
        </a:xfrm>
      </p:grpSpPr>
      <p:pic>
        <p:nvPicPr>
          <p:cNvPr descr="offset_comp_343059.jpg" id="105" name="Google Shape;105;p14"/>
          <p:cNvPicPr preferRelativeResize="0"/>
          <p:nvPr/>
        </p:nvPicPr>
        <p:blipFill rotWithShape="1">
          <a:blip r:embed="rId2">
            <a:alphaModFix amt="80000"/>
          </a:blip>
          <a:srcRect b="25870" l="30474" r="30474" t="11955"/>
          <a:stretch/>
        </p:blipFill>
        <p:spPr>
          <a:xfrm rot="-5400000">
            <a:off x="113630" y="-105700"/>
            <a:ext cx="5142300" cy="5364300"/>
          </a:xfrm>
          <a:prstGeom prst="diagStripe">
            <a:avLst>
              <a:gd fmla="val 50343" name="adj"/>
            </a:avLst>
          </a:prstGeom>
          <a:noFill/>
          <a:ln>
            <a:noFill/>
          </a:ln>
        </p:spPr>
      </p:pic>
      <p:sp>
        <p:nvSpPr>
          <p:cNvPr id="106" name="Google Shape;106;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7" name="Google Shape;107;p14"/>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dk2"/>
              </a:buClr>
              <a:buSzPts val="1300"/>
              <a:buChar char="●"/>
              <a:defRPr>
                <a:solidFill>
                  <a:schemeClr val="dk2"/>
                </a:solidFill>
              </a:defRPr>
            </a:lvl1pPr>
            <a:lvl2pPr indent="-298450" lvl="1" marL="914400">
              <a:spcBef>
                <a:spcPts val="0"/>
              </a:spcBef>
              <a:spcAft>
                <a:spcPts val="0"/>
              </a:spcAft>
              <a:buClr>
                <a:schemeClr val="dk2"/>
              </a:buClr>
              <a:buSzPts val="1100"/>
              <a:buChar char="○"/>
              <a:defRPr>
                <a:solidFill>
                  <a:schemeClr val="dk2"/>
                </a:solidFill>
              </a:defRPr>
            </a:lvl2pPr>
            <a:lvl3pPr indent="-298450" lvl="2" marL="1371600">
              <a:spcBef>
                <a:spcPts val="0"/>
              </a:spcBef>
              <a:spcAft>
                <a:spcPts val="0"/>
              </a:spcAft>
              <a:buClr>
                <a:schemeClr val="dk2"/>
              </a:buClr>
              <a:buSzPts val="1100"/>
              <a:buChar char="■"/>
              <a:defRPr>
                <a:solidFill>
                  <a:schemeClr val="dk2"/>
                </a:solidFill>
              </a:defRPr>
            </a:lvl3pPr>
            <a:lvl4pPr indent="-298450" lvl="3" marL="1828800">
              <a:spcBef>
                <a:spcPts val="0"/>
              </a:spcBef>
              <a:spcAft>
                <a:spcPts val="0"/>
              </a:spcAft>
              <a:buClr>
                <a:schemeClr val="dk2"/>
              </a:buClr>
              <a:buSzPts val="1100"/>
              <a:buChar char="●"/>
              <a:defRPr>
                <a:solidFill>
                  <a:schemeClr val="dk2"/>
                </a:solidFill>
              </a:defRPr>
            </a:lvl4pPr>
            <a:lvl5pPr indent="-298450" lvl="4" marL="2286000">
              <a:spcBef>
                <a:spcPts val="0"/>
              </a:spcBef>
              <a:spcAft>
                <a:spcPts val="0"/>
              </a:spcAft>
              <a:buClr>
                <a:schemeClr val="dk2"/>
              </a:buClr>
              <a:buSzPts val="1100"/>
              <a:buChar char="○"/>
              <a:defRPr>
                <a:solidFill>
                  <a:schemeClr val="dk2"/>
                </a:solidFill>
              </a:defRPr>
            </a:lvl5pPr>
            <a:lvl6pPr indent="-298450" lvl="5" marL="2743200">
              <a:spcBef>
                <a:spcPts val="0"/>
              </a:spcBef>
              <a:spcAft>
                <a:spcPts val="0"/>
              </a:spcAft>
              <a:buClr>
                <a:schemeClr val="dk2"/>
              </a:buClr>
              <a:buSzPts val="1100"/>
              <a:buChar char="■"/>
              <a:defRPr>
                <a:solidFill>
                  <a:schemeClr val="dk2"/>
                </a:solidFill>
              </a:defRPr>
            </a:lvl6pPr>
            <a:lvl7pPr indent="-298450" lvl="6" marL="3200400">
              <a:spcBef>
                <a:spcPts val="0"/>
              </a:spcBef>
              <a:spcAft>
                <a:spcPts val="0"/>
              </a:spcAft>
              <a:buClr>
                <a:schemeClr val="dk2"/>
              </a:buClr>
              <a:buSzPts val="1100"/>
              <a:buChar char="●"/>
              <a:defRPr>
                <a:solidFill>
                  <a:schemeClr val="dk2"/>
                </a:solidFill>
              </a:defRPr>
            </a:lvl7pPr>
            <a:lvl8pPr indent="-298450" lvl="7" marL="3657600">
              <a:spcBef>
                <a:spcPts val="0"/>
              </a:spcBef>
              <a:spcAft>
                <a:spcPts val="0"/>
              </a:spcAft>
              <a:buClr>
                <a:schemeClr val="dk2"/>
              </a:buClr>
              <a:buSzPts val="1100"/>
              <a:buChar char="○"/>
              <a:defRPr>
                <a:solidFill>
                  <a:schemeClr val="dk2"/>
                </a:solidFill>
              </a:defRPr>
            </a:lvl8pPr>
            <a:lvl9pPr indent="-298450" lvl="8" marL="4114800">
              <a:spcBef>
                <a:spcPts val="0"/>
              </a:spcBef>
              <a:spcAft>
                <a:spcPts val="0"/>
              </a:spcAft>
              <a:buClr>
                <a:schemeClr val="dk2"/>
              </a:buClr>
              <a:buSzPts val="1100"/>
              <a:buChar char="■"/>
              <a:defRPr>
                <a:solidFill>
                  <a:schemeClr val="dk2"/>
                </a:solidFill>
              </a:defRPr>
            </a:lvl9pPr>
          </a:lstStyle>
          <a:p/>
        </p:txBody>
      </p:sp>
      <p:sp>
        <p:nvSpPr>
          <p:cNvPr id="108" name="Google Shape;108;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09" name="Google Shape;109;p14">
            <a:hlinkClick/>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a:hlinkClick/>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a:hlinkClick/>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a:hlinkClick/>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 name="Google Shape;113;p14"/>
          <p:cNvGrpSpPr/>
          <p:nvPr/>
        </p:nvGrpSpPr>
        <p:grpSpPr>
          <a:xfrm>
            <a:off x="0" y="381001"/>
            <a:ext cx="1037850" cy="1016287"/>
            <a:chOff x="0" y="381001"/>
            <a:chExt cx="1037850" cy="1016287"/>
          </a:xfrm>
        </p:grpSpPr>
        <p:sp>
          <p:nvSpPr>
            <p:cNvPr id="114" name="Google Shape;114;p1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1">
  <p:cSld name="TITLE_AND_BODY_2">
    <p:spTree>
      <p:nvGrpSpPr>
        <p:cNvPr id="116" name="Shape 116"/>
        <p:cNvGrpSpPr/>
        <p:nvPr/>
      </p:nvGrpSpPr>
      <p:grpSpPr>
        <a:xfrm>
          <a:off x="0" y="0"/>
          <a:ext cx="0" cy="0"/>
          <a:chOff x="0" y="0"/>
          <a:chExt cx="0" cy="0"/>
        </a:xfrm>
      </p:grpSpPr>
      <p:sp>
        <p:nvSpPr>
          <p:cNvPr id="117" name="Google Shape;117;p15"/>
          <p:cNvSpPr txBox="1"/>
          <p:nvPr>
            <p:ph type="title"/>
          </p:nvPr>
        </p:nvSpPr>
        <p:spPr>
          <a:xfrm>
            <a:off x="361071" y="1924852"/>
            <a:ext cx="2304900" cy="1797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8" name="Google Shape;118;p15"/>
          <p:cNvSpPr/>
          <p:nvPr/>
        </p:nvSpPr>
        <p:spPr>
          <a:xfrm>
            <a:off x="4564200" y="0"/>
            <a:ext cx="45798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txBox="1"/>
          <p:nvPr>
            <p:ph idx="1" type="body"/>
          </p:nvPr>
        </p:nvSpPr>
        <p:spPr>
          <a:xfrm>
            <a:off x="6451271" y="1924850"/>
            <a:ext cx="2304900" cy="17973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0"/>
              </a:spcBef>
              <a:spcAft>
                <a:spcPts val="0"/>
              </a:spcAft>
              <a:buClr>
                <a:schemeClr val="dk1"/>
              </a:buClr>
              <a:buSzPts val="1100"/>
              <a:buChar char="○"/>
              <a:defRPr>
                <a:solidFill>
                  <a:schemeClr val="dk1"/>
                </a:solidFill>
              </a:defRPr>
            </a:lvl2pPr>
            <a:lvl3pPr indent="-298450" lvl="2" marL="1371600">
              <a:spcBef>
                <a:spcPts val="0"/>
              </a:spcBef>
              <a:spcAft>
                <a:spcPts val="0"/>
              </a:spcAft>
              <a:buClr>
                <a:schemeClr val="dk1"/>
              </a:buClr>
              <a:buSzPts val="1100"/>
              <a:buChar char="■"/>
              <a:defRPr>
                <a:solidFill>
                  <a:schemeClr val="dk1"/>
                </a:solidFill>
              </a:defRPr>
            </a:lvl3pPr>
            <a:lvl4pPr indent="-298450" lvl="3" marL="1828800">
              <a:spcBef>
                <a:spcPts val="0"/>
              </a:spcBef>
              <a:spcAft>
                <a:spcPts val="0"/>
              </a:spcAft>
              <a:buClr>
                <a:schemeClr val="dk1"/>
              </a:buClr>
              <a:buSzPts val="1100"/>
              <a:buChar char="●"/>
              <a:defRPr>
                <a:solidFill>
                  <a:schemeClr val="dk1"/>
                </a:solidFill>
              </a:defRPr>
            </a:lvl4pPr>
            <a:lvl5pPr indent="-298450" lvl="4" marL="2286000">
              <a:spcBef>
                <a:spcPts val="0"/>
              </a:spcBef>
              <a:spcAft>
                <a:spcPts val="0"/>
              </a:spcAft>
              <a:buClr>
                <a:schemeClr val="dk1"/>
              </a:buClr>
              <a:buSzPts val="1100"/>
              <a:buChar char="○"/>
              <a:defRPr>
                <a:solidFill>
                  <a:schemeClr val="dk1"/>
                </a:solidFill>
              </a:defRPr>
            </a:lvl5pPr>
            <a:lvl6pPr indent="-298450" lvl="5" marL="2743200">
              <a:spcBef>
                <a:spcPts val="0"/>
              </a:spcBef>
              <a:spcAft>
                <a:spcPts val="0"/>
              </a:spcAft>
              <a:buClr>
                <a:schemeClr val="dk1"/>
              </a:buClr>
              <a:buSzPts val="1100"/>
              <a:buChar char="■"/>
              <a:defRPr>
                <a:solidFill>
                  <a:schemeClr val="dk1"/>
                </a:solidFill>
              </a:defRPr>
            </a:lvl6pPr>
            <a:lvl7pPr indent="-298450" lvl="6" marL="3200400">
              <a:spcBef>
                <a:spcPts val="0"/>
              </a:spcBef>
              <a:spcAft>
                <a:spcPts val="0"/>
              </a:spcAft>
              <a:buClr>
                <a:schemeClr val="dk1"/>
              </a:buClr>
              <a:buSzPts val="1100"/>
              <a:buChar char="●"/>
              <a:defRPr>
                <a:solidFill>
                  <a:schemeClr val="dk1"/>
                </a:solidFill>
              </a:defRPr>
            </a:lvl7pPr>
            <a:lvl8pPr indent="-298450" lvl="7" marL="3657600">
              <a:spcBef>
                <a:spcPts val="0"/>
              </a:spcBef>
              <a:spcAft>
                <a:spcPts val="0"/>
              </a:spcAft>
              <a:buClr>
                <a:schemeClr val="dk1"/>
              </a:buClr>
              <a:buSzPts val="1100"/>
              <a:buChar char="○"/>
              <a:defRPr>
                <a:solidFill>
                  <a:schemeClr val="dk1"/>
                </a:solidFill>
              </a:defRPr>
            </a:lvl8pPr>
            <a:lvl9pPr indent="-298450" lvl="8" marL="4114800">
              <a:spcBef>
                <a:spcPts val="0"/>
              </a:spcBef>
              <a:spcAft>
                <a:spcPts val="0"/>
              </a:spcAft>
              <a:buClr>
                <a:schemeClr val="dk1"/>
              </a:buClr>
              <a:buSzPts val="1100"/>
              <a:buChar char="■"/>
              <a:defRPr>
                <a:solidFill>
                  <a:schemeClr val="dk1"/>
                </a:solidFill>
              </a:defRPr>
            </a:lvl9pPr>
          </a:lstStyle>
          <a:p/>
        </p:txBody>
      </p:sp>
      <p:sp>
        <p:nvSpPr>
          <p:cNvPr id="120" name="Google Shape;120;p15">
            <a:hlinkClick/>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a:hlinkClick/>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a:hlinkClick/>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a:hlinkClick/>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 name="Google Shape;124;p15"/>
          <p:cNvGrpSpPr/>
          <p:nvPr/>
        </p:nvGrpSpPr>
        <p:grpSpPr>
          <a:xfrm>
            <a:off x="0" y="381001"/>
            <a:ext cx="1037850" cy="1016287"/>
            <a:chOff x="0" y="381001"/>
            <a:chExt cx="1037850" cy="1016287"/>
          </a:xfrm>
        </p:grpSpPr>
        <p:sp>
          <p:nvSpPr>
            <p:cNvPr id="125" name="Google Shape;125;p1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 name="Google Shape;127;p15"/>
          <p:cNvSpPr txBox="1"/>
          <p:nvPr>
            <p:ph idx="2" type="title"/>
          </p:nvPr>
        </p:nvSpPr>
        <p:spPr>
          <a:xfrm>
            <a:off x="1297500" y="459490"/>
            <a:ext cx="3005700" cy="510900"/>
          </a:xfrm>
          <a:prstGeom prst="rect">
            <a:avLst/>
          </a:prstGeom>
        </p:spPr>
        <p:txBody>
          <a:bodyPr anchorCtr="0" anchor="t" bIns="91425" lIns="91425" spcFirstLastPara="1" rIns="91425" wrap="square" tIns="91425">
            <a:norm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28" name="Google Shape;128;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2">
  <p:cSld name="TITLE_AND_BODY_2_1">
    <p:spTree>
      <p:nvGrpSpPr>
        <p:cNvPr id="129" name="Shape 129"/>
        <p:cNvGrpSpPr/>
        <p:nvPr/>
      </p:nvGrpSpPr>
      <p:grpSpPr>
        <a:xfrm>
          <a:off x="0" y="0"/>
          <a:ext cx="0" cy="0"/>
          <a:chOff x="0" y="0"/>
          <a:chExt cx="0" cy="0"/>
        </a:xfrm>
      </p:grpSpPr>
      <p:sp>
        <p:nvSpPr>
          <p:cNvPr id="130" name="Google Shape;130;p16"/>
          <p:cNvSpPr txBox="1"/>
          <p:nvPr>
            <p:ph type="title"/>
          </p:nvPr>
        </p:nvSpPr>
        <p:spPr>
          <a:xfrm>
            <a:off x="702850" y="1708619"/>
            <a:ext cx="3333300" cy="14709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31" name="Google Shape;131;p16"/>
          <p:cNvSpPr/>
          <p:nvPr/>
        </p:nvSpPr>
        <p:spPr>
          <a:xfrm>
            <a:off x="0" y="3486600"/>
            <a:ext cx="9144000" cy="165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a:hlinkClick/>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a:hlinkClick/>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a:hlinkClick/>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a:hlinkClick/>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 name="Google Shape;136;p16"/>
          <p:cNvGrpSpPr/>
          <p:nvPr/>
        </p:nvGrpSpPr>
        <p:grpSpPr>
          <a:xfrm>
            <a:off x="0" y="381001"/>
            <a:ext cx="1037850" cy="1016287"/>
            <a:chOff x="0" y="381001"/>
            <a:chExt cx="1037850" cy="1016287"/>
          </a:xfrm>
        </p:grpSpPr>
        <p:sp>
          <p:nvSpPr>
            <p:cNvPr id="137" name="Google Shape;137;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6"/>
          <p:cNvSpPr txBox="1"/>
          <p:nvPr>
            <p:ph idx="2" type="title"/>
          </p:nvPr>
        </p:nvSpPr>
        <p:spPr>
          <a:xfrm>
            <a:off x="1297500" y="459490"/>
            <a:ext cx="3005700" cy="510900"/>
          </a:xfrm>
          <a:prstGeom prst="rect">
            <a:avLst/>
          </a:prstGeom>
        </p:spPr>
        <p:txBody>
          <a:bodyPr anchorCtr="0" anchor="t" bIns="91425" lIns="91425" spcFirstLastPara="1" rIns="91425" wrap="square" tIns="91425">
            <a:norm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40" name="Google Shape;14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41" name="Google Shape;141;p16"/>
          <p:cNvSpPr txBox="1"/>
          <p:nvPr>
            <p:ph idx="1" type="body"/>
          </p:nvPr>
        </p:nvSpPr>
        <p:spPr>
          <a:xfrm>
            <a:off x="702850" y="3625275"/>
            <a:ext cx="3333300" cy="7653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0"/>
              </a:spcBef>
              <a:spcAft>
                <a:spcPts val="0"/>
              </a:spcAft>
              <a:buClr>
                <a:schemeClr val="dk1"/>
              </a:buClr>
              <a:buSzPts val="1100"/>
              <a:buChar char="○"/>
              <a:defRPr>
                <a:solidFill>
                  <a:schemeClr val="dk1"/>
                </a:solidFill>
              </a:defRPr>
            </a:lvl2pPr>
            <a:lvl3pPr indent="-298450" lvl="2" marL="1371600">
              <a:spcBef>
                <a:spcPts val="0"/>
              </a:spcBef>
              <a:spcAft>
                <a:spcPts val="0"/>
              </a:spcAft>
              <a:buClr>
                <a:schemeClr val="dk1"/>
              </a:buClr>
              <a:buSzPts val="1100"/>
              <a:buChar char="■"/>
              <a:defRPr>
                <a:solidFill>
                  <a:schemeClr val="dk1"/>
                </a:solidFill>
              </a:defRPr>
            </a:lvl3pPr>
            <a:lvl4pPr indent="-298450" lvl="3" marL="1828800">
              <a:spcBef>
                <a:spcPts val="0"/>
              </a:spcBef>
              <a:spcAft>
                <a:spcPts val="0"/>
              </a:spcAft>
              <a:buClr>
                <a:schemeClr val="dk1"/>
              </a:buClr>
              <a:buSzPts val="1100"/>
              <a:buChar char="●"/>
              <a:defRPr>
                <a:solidFill>
                  <a:schemeClr val="dk1"/>
                </a:solidFill>
              </a:defRPr>
            </a:lvl4pPr>
            <a:lvl5pPr indent="-298450" lvl="4" marL="2286000">
              <a:spcBef>
                <a:spcPts val="0"/>
              </a:spcBef>
              <a:spcAft>
                <a:spcPts val="0"/>
              </a:spcAft>
              <a:buClr>
                <a:schemeClr val="dk1"/>
              </a:buClr>
              <a:buSzPts val="1100"/>
              <a:buChar char="○"/>
              <a:defRPr>
                <a:solidFill>
                  <a:schemeClr val="dk1"/>
                </a:solidFill>
              </a:defRPr>
            </a:lvl5pPr>
            <a:lvl6pPr indent="-298450" lvl="5" marL="2743200">
              <a:spcBef>
                <a:spcPts val="0"/>
              </a:spcBef>
              <a:spcAft>
                <a:spcPts val="0"/>
              </a:spcAft>
              <a:buClr>
                <a:schemeClr val="dk1"/>
              </a:buClr>
              <a:buSzPts val="1100"/>
              <a:buChar char="■"/>
              <a:defRPr>
                <a:solidFill>
                  <a:schemeClr val="dk1"/>
                </a:solidFill>
              </a:defRPr>
            </a:lvl6pPr>
            <a:lvl7pPr indent="-298450" lvl="6" marL="3200400">
              <a:spcBef>
                <a:spcPts val="0"/>
              </a:spcBef>
              <a:spcAft>
                <a:spcPts val="0"/>
              </a:spcAft>
              <a:buClr>
                <a:schemeClr val="dk1"/>
              </a:buClr>
              <a:buSzPts val="1100"/>
              <a:buChar char="●"/>
              <a:defRPr>
                <a:solidFill>
                  <a:schemeClr val="dk1"/>
                </a:solidFill>
              </a:defRPr>
            </a:lvl7pPr>
            <a:lvl8pPr indent="-298450" lvl="7" marL="3657600">
              <a:spcBef>
                <a:spcPts val="0"/>
              </a:spcBef>
              <a:spcAft>
                <a:spcPts val="0"/>
              </a:spcAft>
              <a:buClr>
                <a:schemeClr val="dk1"/>
              </a:buClr>
              <a:buSzPts val="1100"/>
              <a:buChar char="○"/>
              <a:defRPr>
                <a:solidFill>
                  <a:schemeClr val="dk1"/>
                </a:solidFill>
              </a:defRPr>
            </a:lvl8pPr>
            <a:lvl9pPr indent="-298450" lvl="8" marL="4114800">
              <a:spcBef>
                <a:spcPts val="0"/>
              </a:spcBef>
              <a:spcAft>
                <a:spcPts val="0"/>
              </a:spcAft>
              <a:buClr>
                <a:schemeClr val="dk1"/>
              </a:buClr>
              <a:buSzPts val="1100"/>
              <a:buChar char="■"/>
              <a:defRPr>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7"/>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en-GB" sz="2600">
                <a:solidFill>
                  <a:srgbClr val="000000"/>
                </a:solidFill>
                <a:latin typeface="Arial"/>
                <a:ea typeface="Arial"/>
                <a:cs typeface="Arial"/>
                <a:sym typeface="Arial"/>
              </a:rPr>
              <a:t>Arabic Sentiment Analysis </a:t>
            </a:r>
            <a:endParaRPr sz="2600">
              <a:solidFill>
                <a:srgbClr val="000000"/>
              </a:solidFill>
              <a:latin typeface="Arial"/>
              <a:ea typeface="Arial"/>
              <a:cs typeface="Arial"/>
              <a:sym typeface="Arial"/>
            </a:endParaRPr>
          </a:p>
          <a:p>
            <a:pPr indent="0" lvl="0" marL="0" rtl="0" algn="l">
              <a:lnSpc>
                <a:spcPct val="115000"/>
              </a:lnSpc>
              <a:spcBef>
                <a:spcPts val="1800"/>
              </a:spcBef>
              <a:spcAft>
                <a:spcPts val="0"/>
              </a:spcAft>
              <a:buNone/>
            </a:pPr>
            <a:r>
              <a:rPr b="0" i="1" lang="en-GB" sz="2400">
                <a:solidFill>
                  <a:srgbClr val="666666"/>
                </a:solidFill>
                <a:latin typeface="Georgia"/>
                <a:ea typeface="Georgia"/>
                <a:cs typeface="Georgia"/>
                <a:sym typeface="Georgia"/>
              </a:rPr>
              <a:t>NLP Project Documentation</a:t>
            </a:r>
            <a:endParaRPr b="0" i="1" sz="2400">
              <a:solidFill>
                <a:srgbClr val="666666"/>
              </a:solidFill>
              <a:latin typeface="Georgia"/>
              <a:ea typeface="Georgia"/>
              <a:cs typeface="Georgia"/>
              <a:sym typeface="Georgia"/>
            </a:endParaRPr>
          </a:p>
          <a:p>
            <a:pPr indent="0" lvl="0" marL="0" rtl="0" algn="l">
              <a:spcBef>
                <a:spcPts val="400"/>
              </a:spcBef>
              <a:spcAft>
                <a:spcPts val="0"/>
              </a:spcAft>
              <a:buNone/>
            </a:pPr>
            <a:r>
              <a:t/>
            </a:r>
            <a:endParaRPr/>
          </a:p>
        </p:txBody>
      </p:sp>
      <p:sp>
        <p:nvSpPr>
          <p:cNvPr id="147" name="Google Shape;147;p17"/>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None/>
            </a:pPr>
            <a:r>
              <a:rPr lang="en-GB" sz="1100">
                <a:solidFill>
                  <a:srgbClr val="000000"/>
                </a:solidFill>
                <a:latin typeface="Arial"/>
                <a:ea typeface="Arial"/>
                <a:cs typeface="Arial"/>
                <a:sym typeface="Arial"/>
              </a:rPr>
              <a:t>Tariq Aburajab : 2110025</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GB" sz="1100">
                <a:solidFill>
                  <a:srgbClr val="000000"/>
                </a:solidFill>
                <a:latin typeface="Arial"/>
                <a:ea typeface="Arial"/>
                <a:cs typeface="Arial"/>
                <a:sym typeface="Arial"/>
              </a:rPr>
              <a:t>Ahmad Abu-Khdair : 2110127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en-GB" sz="2400">
                <a:solidFill>
                  <a:srgbClr val="000000"/>
                </a:solidFill>
                <a:latin typeface="Arial"/>
                <a:ea typeface="Arial"/>
                <a:cs typeface="Arial"/>
                <a:sym typeface="Arial"/>
              </a:rPr>
              <a:t>Abstract</a:t>
            </a:r>
            <a:endParaRPr sz="2400">
              <a:solidFill>
                <a:srgbClr val="000000"/>
              </a:solidFill>
              <a:latin typeface="Arial"/>
              <a:ea typeface="Arial"/>
              <a:cs typeface="Arial"/>
              <a:sym typeface="Arial"/>
            </a:endParaRPr>
          </a:p>
          <a:p>
            <a:pPr indent="0" lvl="0" marL="0" rtl="0" algn="l">
              <a:spcBef>
                <a:spcPts val="600"/>
              </a:spcBef>
              <a:spcAft>
                <a:spcPts val="0"/>
              </a:spcAft>
              <a:buNone/>
            </a:pPr>
            <a:r>
              <a:t/>
            </a:r>
            <a:endParaRPr/>
          </a:p>
        </p:txBody>
      </p:sp>
      <p:sp>
        <p:nvSpPr>
          <p:cNvPr id="153" name="Google Shape;153;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solidFill>
                  <a:srgbClr val="000000"/>
                </a:solidFill>
                <a:latin typeface="Arial"/>
                <a:ea typeface="Arial"/>
                <a:cs typeface="Arial"/>
                <a:sym typeface="Arial"/>
              </a:rPr>
              <a:t>This report documents the development and implementation of an Arabic sentiment analysis system that classifies Arabic text into negative, neutral, or positive sentiment categories. The system utilizes spaCy's natural language processing capabilities to build a text classification model specifically designed for Arabic language processing. Performance evaluation shows promising results with approximately 83% accuracy on test data.</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None/>
            </a:pPr>
            <a:r>
              <a:rPr lang="en-GB" sz="1800">
                <a:solidFill>
                  <a:srgbClr val="000000"/>
                </a:solidFill>
                <a:latin typeface="Arial"/>
                <a:ea typeface="Arial"/>
                <a:cs typeface="Arial"/>
                <a:sym typeface="Arial"/>
              </a:rPr>
              <a:t>1. Introduction</a:t>
            </a:r>
            <a:endParaRPr sz="1800">
              <a:solidFill>
                <a:srgbClr val="000000"/>
              </a:solidFill>
              <a:latin typeface="Arial"/>
              <a:ea typeface="Arial"/>
              <a:cs typeface="Arial"/>
              <a:sym typeface="Arial"/>
            </a:endParaRPr>
          </a:p>
          <a:p>
            <a:pPr indent="0" lvl="0" marL="0" rtl="0" algn="l">
              <a:spcBef>
                <a:spcPts val="400"/>
              </a:spcBef>
              <a:spcAft>
                <a:spcPts val="0"/>
              </a:spcAft>
              <a:buNone/>
            </a:pPr>
            <a:r>
              <a:t/>
            </a:r>
            <a:endParaRPr/>
          </a:p>
        </p:txBody>
      </p:sp>
      <p:sp>
        <p:nvSpPr>
          <p:cNvPr id="159" name="Google Shape;159;p19"/>
          <p:cNvSpPr txBox="1"/>
          <p:nvPr>
            <p:ph idx="1" type="body"/>
          </p:nvPr>
        </p:nvSpPr>
        <p:spPr>
          <a:xfrm>
            <a:off x="4018025" y="1567550"/>
            <a:ext cx="4318500" cy="1766700"/>
          </a:xfrm>
          <a:prstGeom prst="rect">
            <a:avLst/>
          </a:prstGeom>
          <a:ln>
            <a:noFill/>
          </a:ln>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GB" sz="1100">
                <a:solidFill>
                  <a:srgbClr val="000000"/>
                </a:solidFill>
                <a:latin typeface="Arial"/>
                <a:ea typeface="Arial"/>
                <a:cs typeface="Arial"/>
                <a:sym typeface="Arial"/>
              </a:rPr>
              <a:t>Sentiment analysis, the computational study of people's opinions and emotions expressed in text, is a rapidly growing field in Natural Language Processing (NLP). While substantial work exists for English language sentiment analysis, Arabic presents unique challenges due to its complex morphology, dialectal variations, and rich figurative expressions.</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This project implements a machine learning-based sentiment analysis system for Arabic text, capable of classifying input text into three sentiment categories: negative, neutral, and positive. The system uses spaCy to create, train, and deploy a custom text categorization model trained on labeled Arabic text data.</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0"/>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None/>
            </a:pPr>
            <a:r>
              <a:rPr lang="en-GB" sz="1800">
                <a:solidFill>
                  <a:srgbClr val="000000"/>
                </a:solidFill>
                <a:latin typeface="Arial"/>
                <a:ea typeface="Arial"/>
                <a:cs typeface="Arial"/>
                <a:sym typeface="Arial"/>
              </a:rPr>
              <a:t>2. Project Objectives</a:t>
            </a:r>
            <a:endParaRPr sz="1800">
              <a:solidFill>
                <a:srgbClr val="000000"/>
              </a:solidFill>
              <a:latin typeface="Arial"/>
              <a:ea typeface="Arial"/>
              <a:cs typeface="Arial"/>
              <a:sym typeface="Arial"/>
            </a:endParaRPr>
          </a:p>
          <a:p>
            <a:pPr indent="0" lvl="0" marL="0" rtl="0" algn="l">
              <a:spcBef>
                <a:spcPts val="400"/>
              </a:spcBef>
              <a:spcAft>
                <a:spcPts val="0"/>
              </a:spcAft>
              <a:buNone/>
            </a:pPr>
            <a:r>
              <a:t/>
            </a:r>
            <a:endParaRPr/>
          </a:p>
        </p:txBody>
      </p:sp>
      <p:sp>
        <p:nvSpPr>
          <p:cNvPr id="165" name="Google Shape;165;p20"/>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100">
                <a:solidFill>
                  <a:srgbClr val="000000"/>
                </a:solidFill>
                <a:latin typeface="Arial"/>
                <a:ea typeface="Arial"/>
                <a:cs typeface="Arial"/>
                <a:sym typeface="Arial"/>
              </a:rPr>
              <a:t>* Design and implement a sentiment analysis system for Arabic text</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Process and prepare Arabic text dataset for machine learning</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Develop a classification model with high accuracy and balanced performance</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Implement an interactive interface for testing user input</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Evaluate model performance using standard metrics</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1"/>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None/>
            </a:pPr>
            <a:r>
              <a:rPr lang="en-GB" sz="1800">
                <a:solidFill>
                  <a:srgbClr val="000000"/>
                </a:solidFill>
                <a:latin typeface="Arial"/>
                <a:ea typeface="Arial"/>
                <a:cs typeface="Arial"/>
                <a:sym typeface="Arial"/>
              </a:rPr>
              <a:t>3. Data Description</a:t>
            </a:r>
            <a:endParaRPr sz="1800">
              <a:solidFill>
                <a:srgbClr val="000000"/>
              </a:solidFill>
              <a:latin typeface="Arial"/>
              <a:ea typeface="Arial"/>
              <a:cs typeface="Arial"/>
              <a:sym typeface="Arial"/>
            </a:endParaRPr>
          </a:p>
          <a:p>
            <a:pPr indent="0" lvl="0" marL="0" rtl="0" algn="l">
              <a:spcBef>
                <a:spcPts val="400"/>
              </a:spcBef>
              <a:spcAft>
                <a:spcPts val="0"/>
              </a:spcAft>
              <a:buNone/>
            </a:pPr>
            <a:r>
              <a:t/>
            </a:r>
            <a:endParaRPr/>
          </a:p>
        </p:txBody>
      </p:sp>
      <p:sp>
        <p:nvSpPr>
          <p:cNvPr id="171" name="Google Shape;171;p21"/>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GB" sz="1100">
                <a:solidFill>
                  <a:srgbClr val="000000"/>
                </a:solidFill>
                <a:latin typeface="Arial"/>
                <a:ea typeface="Arial"/>
                <a:cs typeface="Arial"/>
                <a:sym typeface="Arial"/>
              </a:rPr>
              <a:t>The system uses labeled Arabic text data stored in a CSV file with columns for text content and sentiment labels. The dataset was preprocessed to handle:</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Missing values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Duplicate entries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Consistent label formatting (mapping text labels to numeric values)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Class imbalance through weighted learning</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An 80/20 train-test split was used for model development and evaluation, with stratification to maintain class distribution across splits.</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2"/>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None/>
            </a:pPr>
            <a:r>
              <a:rPr lang="en-GB" sz="1800">
                <a:solidFill>
                  <a:srgbClr val="000000"/>
                </a:solidFill>
                <a:latin typeface="Arial"/>
                <a:ea typeface="Arial"/>
                <a:cs typeface="Arial"/>
                <a:sym typeface="Arial"/>
              </a:rPr>
              <a:t>4. Methodology</a:t>
            </a:r>
            <a:endParaRPr sz="1800">
              <a:solidFill>
                <a:srgbClr val="000000"/>
              </a:solidFill>
              <a:latin typeface="Arial"/>
              <a:ea typeface="Arial"/>
              <a:cs typeface="Arial"/>
              <a:sym typeface="Arial"/>
            </a:endParaRPr>
          </a:p>
          <a:p>
            <a:pPr indent="0" lvl="0" marL="0" rtl="0" algn="l">
              <a:lnSpc>
                <a:spcPct val="115000"/>
              </a:lnSpc>
              <a:spcBef>
                <a:spcPts val="1400"/>
              </a:spcBef>
              <a:spcAft>
                <a:spcPts val="0"/>
              </a:spcAft>
              <a:buNone/>
            </a:pPr>
            <a:r>
              <a:rPr lang="en-GB" sz="1400">
                <a:solidFill>
                  <a:srgbClr val="000000"/>
                </a:solidFill>
                <a:latin typeface="Arial"/>
                <a:ea typeface="Arial"/>
                <a:cs typeface="Arial"/>
                <a:sym typeface="Arial"/>
              </a:rPr>
              <a:t>4.1 Data Preprocessing</a:t>
            </a:r>
            <a:endParaRPr sz="1400">
              <a:solidFill>
                <a:srgbClr val="000000"/>
              </a:solidFill>
              <a:latin typeface="Arial"/>
              <a:ea typeface="Arial"/>
              <a:cs typeface="Arial"/>
              <a:sym typeface="Arial"/>
            </a:endParaRPr>
          </a:p>
          <a:p>
            <a:pPr indent="0" lvl="0" marL="0" rtl="0" algn="l">
              <a:lnSpc>
                <a:spcPct val="115000"/>
              </a:lnSpc>
              <a:spcBef>
                <a:spcPts val="1800"/>
              </a:spcBef>
              <a:spcAft>
                <a:spcPts val="400"/>
              </a:spcAft>
              <a:buNone/>
            </a:pPr>
            <a:r>
              <a:t/>
            </a:r>
            <a:endParaRPr sz="1800">
              <a:solidFill>
                <a:srgbClr val="000000"/>
              </a:solidFill>
              <a:latin typeface="Arial"/>
              <a:ea typeface="Arial"/>
              <a:cs typeface="Arial"/>
              <a:sym typeface="Arial"/>
            </a:endParaRPr>
          </a:p>
        </p:txBody>
      </p:sp>
      <p:sp>
        <p:nvSpPr>
          <p:cNvPr id="177" name="Google Shape;177;p22"/>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solidFill>
                  <a:srgbClr val="000000"/>
                </a:solidFill>
                <a:latin typeface="Arial"/>
                <a:ea typeface="Arial"/>
                <a:cs typeface="Arial"/>
                <a:sym typeface="Arial"/>
              </a:rPr>
              <a:t>* Text cleaning and normalization</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Label encoding: negative (0), neutral (1), positive (2)</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Duplicate detection and removal</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Statistical analysis of class distribution</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None/>
            </a:pPr>
            <a:r>
              <a:rPr lang="en-GB" sz="1400">
                <a:solidFill>
                  <a:srgbClr val="000000"/>
                </a:solidFill>
                <a:latin typeface="Arial"/>
                <a:ea typeface="Arial"/>
                <a:cs typeface="Arial"/>
                <a:sym typeface="Arial"/>
              </a:rPr>
              <a:t>4.2 Model Architecture</a:t>
            </a:r>
            <a:endParaRPr sz="1400">
              <a:solidFill>
                <a:srgbClr val="000000"/>
              </a:solidFill>
              <a:latin typeface="Arial"/>
              <a:ea typeface="Arial"/>
              <a:cs typeface="Arial"/>
              <a:sym typeface="Arial"/>
            </a:endParaRPr>
          </a:p>
        </p:txBody>
      </p:sp>
      <p:sp>
        <p:nvSpPr>
          <p:cNvPr id="183" name="Google Shape;183;p23"/>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solidFill>
                  <a:srgbClr val="000000"/>
                </a:solidFill>
                <a:latin typeface="Arial"/>
                <a:ea typeface="Arial"/>
                <a:cs typeface="Arial"/>
                <a:sym typeface="Arial"/>
              </a:rPr>
              <a:t>The system uses spaCy's text categorization pipeline with the following components: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A blank Arabic language model</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A text categorizer component for classification</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Custom training data formatting for spaCy's Example objects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Class weighting to handle imbalanced data</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0"/>
              </a:spcAft>
              <a:buNone/>
            </a:pPr>
            <a:r>
              <a:rPr lang="en-GB" sz="1400">
                <a:solidFill>
                  <a:srgbClr val="000000"/>
                </a:solidFill>
                <a:latin typeface="Arial"/>
                <a:ea typeface="Arial"/>
                <a:cs typeface="Arial"/>
                <a:sym typeface="Arial"/>
              </a:rPr>
              <a:t>4.3 Training Process</a:t>
            </a:r>
            <a:endParaRPr sz="1400">
              <a:solidFill>
                <a:srgbClr val="000000"/>
              </a:solidFill>
              <a:latin typeface="Arial"/>
              <a:ea typeface="Arial"/>
              <a:cs typeface="Arial"/>
              <a:sym typeface="Arial"/>
            </a:endParaRPr>
          </a:p>
          <a:p>
            <a:pPr indent="0" lvl="0" marL="0" rtl="0" algn="l">
              <a:spcBef>
                <a:spcPts val="400"/>
              </a:spcBef>
              <a:spcAft>
                <a:spcPts val="0"/>
              </a:spcAft>
              <a:buNone/>
            </a:pPr>
            <a:r>
              <a:t/>
            </a:r>
            <a:endParaRPr/>
          </a:p>
        </p:txBody>
      </p:sp>
      <p:sp>
        <p:nvSpPr>
          <p:cNvPr id="189" name="Google Shape;189;p24"/>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solidFill>
                  <a:srgbClr val="000000"/>
                </a:solidFill>
                <a:latin typeface="Arial"/>
                <a:ea typeface="Arial"/>
                <a:cs typeface="Arial"/>
                <a:sym typeface="Arial"/>
              </a:rPr>
              <a:t>The model training process involves: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Converting text and labels to spaCy's expected format</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Creating Example objects for training</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Batching examples using minibatch with dynamic compounding</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Applying dropout (0.2) for regularization</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Evaluating on a subset of training data during epochs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Saving the best model to disk</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None/>
            </a:pPr>
            <a:r>
              <a:rPr lang="en-GB" sz="1800">
                <a:solidFill>
                  <a:srgbClr val="000000"/>
                </a:solidFill>
                <a:latin typeface="Arial"/>
                <a:ea typeface="Arial"/>
                <a:cs typeface="Arial"/>
                <a:sym typeface="Arial"/>
              </a:rPr>
              <a:t>5. Implementation Details</a:t>
            </a:r>
            <a:endParaRPr sz="1800">
              <a:solidFill>
                <a:srgbClr val="000000"/>
              </a:solidFill>
              <a:latin typeface="Arial"/>
              <a:ea typeface="Arial"/>
              <a:cs typeface="Arial"/>
              <a:sym typeface="Arial"/>
            </a:endParaRPr>
          </a:p>
          <a:p>
            <a:pPr indent="0" lvl="0" marL="0" rtl="0" algn="l">
              <a:lnSpc>
                <a:spcPct val="115000"/>
              </a:lnSpc>
              <a:spcBef>
                <a:spcPts val="400"/>
              </a:spcBef>
              <a:spcAft>
                <a:spcPts val="0"/>
              </a:spcAft>
              <a:buNone/>
            </a:pPr>
            <a:r>
              <a:t/>
            </a:r>
            <a:endParaRPr b="0" sz="1100">
              <a:solidFill>
                <a:srgbClr val="000000"/>
              </a:solidFill>
              <a:latin typeface="Arial"/>
              <a:ea typeface="Arial"/>
              <a:cs typeface="Arial"/>
              <a:sym typeface="Arial"/>
            </a:endParaRPr>
          </a:p>
          <a:p>
            <a:pPr indent="0" lvl="0" marL="0" rtl="0" algn="l">
              <a:lnSpc>
                <a:spcPct val="115000"/>
              </a:lnSpc>
              <a:spcBef>
                <a:spcPts val="1400"/>
              </a:spcBef>
              <a:spcAft>
                <a:spcPts val="0"/>
              </a:spcAft>
              <a:buNone/>
            </a:pPr>
            <a:r>
              <a:rPr lang="en-GB" sz="1400">
                <a:solidFill>
                  <a:srgbClr val="000000"/>
                </a:solidFill>
                <a:latin typeface="Arial"/>
                <a:ea typeface="Arial"/>
                <a:cs typeface="Arial"/>
                <a:sym typeface="Arial"/>
              </a:rPr>
              <a:t>5.1 System Components</a:t>
            </a:r>
            <a:endParaRPr sz="1400">
              <a:solidFill>
                <a:srgbClr val="000000"/>
              </a:solidFill>
              <a:latin typeface="Arial"/>
              <a:ea typeface="Arial"/>
              <a:cs typeface="Arial"/>
              <a:sym typeface="Arial"/>
            </a:endParaRPr>
          </a:p>
          <a:p>
            <a:pPr indent="0" lvl="0" marL="0" rtl="0" algn="l">
              <a:spcBef>
                <a:spcPts val="400"/>
              </a:spcBef>
              <a:spcAft>
                <a:spcPts val="0"/>
              </a:spcAft>
              <a:buNone/>
            </a:pPr>
            <a:r>
              <a:t/>
            </a:r>
            <a:endParaRPr/>
          </a:p>
        </p:txBody>
      </p:sp>
      <p:sp>
        <p:nvSpPr>
          <p:cNvPr id="195" name="Google Shape;195;p25"/>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solidFill>
                  <a:srgbClr val="000000"/>
                </a:solidFill>
                <a:latin typeface="Arial"/>
                <a:ea typeface="Arial"/>
                <a:cs typeface="Arial"/>
                <a:sym typeface="Arial"/>
              </a:rPr>
              <a:t>* `main.py`: Handles data loading, preprocessing, training, evaluation, and interactive mode</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`sentiment.py`: Contains the `ArabicSentimentAnalyzer` class that implements model operations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`models/`: Directory for storing trained models</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0"/>
              </a:spcAft>
              <a:buNone/>
            </a:pPr>
            <a:r>
              <a:rPr lang="en-GB" sz="1400">
                <a:solidFill>
                  <a:srgbClr val="000000"/>
                </a:solidFill>
                <a:latin typeface="Arial"/>
                <a:ea typeface="Arial"/>
                <a:cs typeface="Arial"/>
                <a:sym typeface="Arial"/>
              </a:rPr>
              <a:t>5.2 Key Features</a:t>
            </a:r>
            <a:endParaRPr sz="1400">
              <a:solidFill>
                <a:srgbClr val="000000"/>
              </a:solidFill>
              <a:latin typeface="Arial"/>
              <a:ea typeface="Arial"/>
              <a:cs typeface="Arial"/>
              <a:sym typeface="Arial"/>
            </a:endParaRPr>
          </a:p>
          <a:p>
            <a:pPr indent="0" lvl="0" marL="0" rtl="0" algn="l">
              <a:spcBef>
                <a:spcPts val="400"/>
              </a:spcBef>
              <a:spcAft>
                <a:spcPts val="0"/>
              </a:spcAft>
              <a:buNone/>
            </a:pPr>
            <a:r>
              <a:t/>
            </a:r>
            <a:endParaRPr/>
          </a:p>
        </p:txBody>
      </p:sp>
      <p:sp>
        <p:nvSpPr>
          <p:cNvPr id="201" name="Google Shape;201;p26"/>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solidFill>
                  <a:srgbClr val="000000"/>
                </a:solidFill>
                <a:latin typeface="Arial"/>
                <a:ea typeface="Arial"/>
                <a:cs typeface="Arial"/>
                <a:sym typeface="Arial"/>
              </a:rPr>
              <a:t>* Dynamic handling of input data format</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Class weight computation for balanced learning</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Comprehensive evaluation metrics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Interactive prediction interface for user testing</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Model persistence for later reuse</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None/>
            </a:pPr>
            <a:r>
              <a:rPr lang="en-GB" sz="1800">
                <a:solidFill>
                  <a:srgbClr val="000000"/>
                </a:solidFill>
                <a:latin typeface="Arial"/>
                <a:ea typeface="Arial"/>
                <a:cs typeface="Arial"/>
                <a:sym typeface="Arial"/>
              </a:rPr>
              <a:t>6. Results and Evaluation</a:t>
            </a:r>
            <a:endParaRPr sz="1800">
              <a:solidFill>
                <a:srgbClr val="000000"/>
              </a:solidFill>
              <a:latin typeface="Arial"/>
              <a:ea typeface="Arial"/>
              <a:cs typeface="Arial"/>
              <a:sym typeface="Arial"/>
            </a:endParaRPr>
          </a:p>
          <a:p>
            <a:pPr indent="0" lvl="0" marL="0" rtl="0" algn="l">
              <a:lnSpc>
                <a:spcPct val="115000"/>
              </a:lnSpc>
              <a:spcBef>
                <a:spcPts val="400"/>
              </a:spcBef>
              <a:spcAft>
                <a:spcPts val="0"/>
              </a:spcAft>
              <a:buNone/>
            </a:pPr>
            <a:r>
              <a:t/>
            </a:r>
            <a:endParaRPr b="0" sz="1100">
              <a:solidFill>
                <a:srgbClr val="000000"/>
              </a:solidFill>
              <a:latin typeface="Arial"/>
              <a:ea typeface="Arial"/>
              <a:cs typeface="Arial"/>
              <a:sym typeface="Arial"/>
            </a:endParaRPr>
          </a:p>
          <a:p>
            <a:pPr indent="0" lvl="0" marL="0" rtl="0" algn="l">
              <a:lnSpc>
                <a:spcPct val="115000"/>
              </a:lnSpc>
              <a:spcBef>
                <a:spcPts val="1400"/>
              </a:spcBef>
              <a:spcAft>
                <a:spcPts val="400"/>
              </a:spcAft>
              <a:buNone/>
            </a:pPr>
            <a:r>
              <a:rPr lang="en-GB" sz="1400">
                <a:solidFill>
                  <a:srgbClr val="000000"/>
                </a:solidFill>
                <a:latin typeface="Arial"/>
                <a:ea typeface="Arial"/>
                <a:cs typeface="Arial"/>
                <a:sym typeface="Arial"/>
              </a:rPr>
              <a:t>6.1 Performance Metrics</a:t>
            </a:r>
            <a:endParaRPr sz="1400">
              <a:solidFill>
                <a:srgbClr val="000000"/>
              </a:solidFill>
              <a:latin typeface="Arial"/>
              <a:ea typeface="Arial"/>
              <a:cs typeface="Arial"/>
              <a:sym typeface="Arial"/>
            </a:endParaRPr>
          </a:p>
        </p:txBody>
      </p:sp>
      <p:sp>
        <p:nvSpPr>
          <p:cNvPr id="207" name="Google Shape;207;p27"/>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100">
                <a:solidFill>
                  <a:srgbClr val="000000"/>
                </a:solidFill>
                <a:latin typeface="Arial"/>
                <a:ea typeface="Arial"/>
                <a:cs typeface="Arial"/>
                <a:sym typeface="Arial"/>
              </a:rPr>
              <a:t>The model achieved the following performance on the test set:</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Overall Accuracy: 83%</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Class-specific metrics: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 Negative: Precision 81%, Recall 86%, F1-score 83%</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 Positive: Precision 85%, Recall 79%, F1-score 82%</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Balanced performance across classes with macro-average F1-score of 83%</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0"/>
              </a:spcAft>
              <a:buNone/>
            </a:pPr>
            <a:r>
              <a:rPr lang="en-GB" sz="1400">
                <a:solidFill>
                  <a:srgbClr val="000000"/>
                </a:solidFill>
                <a:latin typeface="Arial"/>
                <a:ea typeface="Arial"/>
                <a:cs typeface="Arial"/>
                <a:sym typeface="Arial"/>
              </a:rPr>
              <a:t>6.2 Error Analysis</a:t>
            </a:r>
            <a:endParaRPr sz="1400">
              <a:solidFill>
                <a:srgbClr val="000000"/>
              </a:solidFill>
              <a:latin typeface="Arial"/>
              <a:ea typeface="Arial"/>
              <a:cs typeface="Arial"/>
              <a:sym typeface="Arial"/>
            </a:endParaRPr>
          </a:p>
          <a:p>
            <a:pPr indent="0" lvl="0" marL="0" rtl="0" algn="l">
              <a:spcBef>
                <a:spcPts val="400"/>
              </a:spcBef>
              <a:spcAft>
                <a:spcPts val="0"/>
              </a:spcAft>
              <a:buNone/>
            </a:pPr>
            <a:r>
              <a:t/>
            </a:r>
            <a:endParaRPr/>
          </a:p>
        </p:txBody>
      </p:sp>
      <p:sp>
        <p:nvSpPr>
          <p:cNvPr id="213" name="Google Shape;213;p28"/>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solidFill>
                  <a:srgbClr val="000000"/>
                </a:solidFill>
                <a:latin typeface="Arial"/>
                <a:ea typeface="Arial"/>
                <a:cs typeface="Arial"/>
                <a:sym typeface="Arial"/>
              </a:rPr>
              <a:t>Analysis of misclassifications reveals challenges with:</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Dialectal Arabic variations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Sarcasm and figurative language</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Context-dependent expressions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Short texts with limited sentiment indicators</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0"/>
              </a:spcAft>
              <a:buNone/>
            </a:pPr>
            <a:r>
              <a:rPr lang="en-GB" sz="1400">
                <a:solidFill>
                  <a:srgbClr val="000000"/>
                </a:solidFill>
                <a:latin typeface="Arial"/>
                <a:ea typeface="Arial"/>
                <a:cs typeface="Arial"/>
                <a:sym typeface="Arial"/>
              </a:rPr>
              <a:t>7. Discussion</a:t>
            </a:r>
            <a:endParaRPr sz="1400">
              <a:solidFill>
                <a:srgbClr val="000000"/>
              </a:solidFill>
              <a:latin typeface="Arial"/>
              <a:ea typeface="Arial"/>
              <a:cs typeface="Arial"/>
              <a:sym typeface="Arial"/>
            </a:endParaRPr>
          </a:p>
          <a:p>
            <a:pPr indent="0" lvl="0" marL="0" rtl="0" algn="l">
              <a:spcBef>
                <a:spcPts val="400"/>
              </a:spcBef>
              <a:spcAft>
                <a:spcPts val="0"/>
              </a:spcAft>
              <a:buNone/>
            </a:pPr>
            <a:r>
              <a:t/>
            </a:r>
            <a:endParaRPr/>
          </a:p>
        </p:txBody>
      </p:sp>
      <p:sp>
        <p:nvSpPr>
          <p:cNvPr id="219" name="Google Shape;219;p29"/>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GB" sz="1100">
                <a:solidFill>
                  <a:srgbClr val="000000"/>
                </a:solidFill>
                <a:latin typeface="Arial"/>
                <a:ea typeface="Arial"/>
                <a:cs typeface="Arial"/>
                <a:sym typeface="Arial"/>
              </a:rPr>
              <a:t>The developed system demonstrates strong performance in sentiment analysis for Arabic text. The balanced metrics across sentiment classes indicate that the model works effectively for both positive and negative sentiment detection without significant bias.</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The spaCy-based approach provides advantages in terms of memory efficiency and deployment simplicity compared to larger transformer models, making it suitable for scenarios with limited computational resources.</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Areas for potential improvement include:</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More sophisticated Arabic-specific text preprocessing</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Incorporation of dialectal features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Larger and more diverse training datasets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 Hybrid approaches combining rule-based and machine learning methods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0"/>
              </a:spcAft>
              <a:buNone/>
            </a:pPr>
            <a:r>
              <a:rPr lang="en-GB" sz="1400">
                <a:solidFill>
                  <a:srgbClr val="000000"/>
                </a:solidFill>
                <a:latin typeface="Arial"/>
                <a:ea typeface="Arial"/>
                <a:cs typeface="Arial"/>
                <a:sym typeface="Arial"/>
              </a:rPr>
              <a:t>8. Conclusion</a:t>
            </a:r>
            <a:endParaRPr sz="1400">
              <a:solidFill>
                <a:srgbClr val="000000"/>
              </a:solidFill>
              <a:latin typeface="Arial"/>
              <a:ea typeface="Arial"/>
              <a:cs typeface="Arial"/>
              <a:sym typeface="Arial"/>
            </a:endParaRPr>
          </a:p>
          <a:p>
            <a:pPr indent="0" lvl="0" marL="0" rtl="0" algn="l">
              <a:spcBef>
                <a:spcPts val="400"/>
              </a:spcBef>
              <a:spcAft>
                <a:spcPts val="0"/>
              </a:spcAft>
              <a:buNone/>
            </a:pPr>
            <a:r>
              <a:t/>
            </a:r>
            <a:endParaRPr/>
          </a:p>
        </p:txBody>
      </p:sp>
      <p:sp>
        <p:nvSpPr>
          <p:cNvPr id="225" name="Google Shape;225;p30"/>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GB" sz="1100">
                <a:solidFill>
                  <a:srgbClr val="000000"/>
                </a:solidFill>
                <a:latin typeface="Arial"/>
                <a:ea typeface="Arial"/>
                <a:cs typeface="Arial"/>
                <a:sym typeface="Arial"/>
              </a:rPr>
              <a:t>This project successfully implemented an Arabic sentiment analysis system with good performance metrics. The system demonstrates the effectiveness of spaCy for developing specialized NLP applications for languages beyond English. The interactive interface allows for easy testing and demonstration of the model's capabilities.</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GB" sz="1100">
                <a:solidFill>
                  <a:srgbClr val="000000"/>
                </a:solidFill>
                <a:latin typeface="Arial"/>
                <a:ea typeface="Arial"/>
                <a:cs typeface="Arial"/>
                <a:sym typeface="Arial"/>
              </a:rPr>
              <a:t>The developed system provides a solid foundation for Arabic text sentiment analysis that can be extended and improved in future work.</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